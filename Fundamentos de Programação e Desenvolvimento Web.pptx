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C45D0-BD0F-716D-DFA1-EF9AC6330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7942FD-FE84-09A0-879F-F3CA87EDB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5698AF-119E-7549-E4DA-57C82DF6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090401-AE49-133B-398B-02CADAF9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FFA850-DE59-FAEF-C5DB-EF3B030F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22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B2A6F-BE25-075C-B7CA-685A04A1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3E48D8-F0BD-2A25-8D7D-2557A695B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1B8882-56B4-3B6A-6C1D-44DC6424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AA0E52-57A6-13BA-906A-3B3D10D0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888CBB-DA43-5203-680B-FC4CA4A7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26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32219-5F37-AF72-B73B-A361F559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F1751B-8079-3F10-0A1D-FBC1914BE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46BA50-0767-F164-AEF5-B5E49227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360B00-3030-EFB7-B6CC-6AF731519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824456-1699-7515-6346-5A139533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57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D05D2-5A3B-2772-D814-0672362F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67B5DA-F875-D75F-572E-3C8B99DC5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BC1089-771E-27C8-DC65-EE9396AEB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ED6AF0-FBD5-4E27-C5EC-DB09F192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55597D-417A-81CA-FE25-D0DA741F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14CE89-B396-173B-7FB1-DCD01D4D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229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93F78-521E-EF27-0673-E8CEF3F7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609E41-EA08-9D93-AFB5-01E931C66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07E36C-200B-2F5F-97B7-343A1737C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C644F5-81C1-855F-1E38-129963818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F5C33D-18C0-5464-A846-D186584EB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190ABA-5882-1EFD-F8DC-153AA017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CB507B8-1CFD-C766-4868-F5682F92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178F16-BA0F-7772-E64B-93142F2BB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34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DCD54-F0BF-70B8-A543-3C094ED3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19FA01-1A4B-CCFF-6CC5-C229D1240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635682-64E8-61FB-18D7-F95448AF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48F5CD-FBAD-970D-F2F8-A7CC59B9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02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6460204-15D5-84D9-5CFB-19E34301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769F90-8538-A032-71CB-1BAB6BDA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CBD527-320C-9A15-A0F8-8D8D2955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98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4DCCF-92E3-76E0-6A53-12312E617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298395-D2F6-55F6-001F-2EC5B073A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C48913-CEB2-D6CC-4239-5790C7CA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A34EEA-DEA2-F020-4C94-25C68E13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1693CA-129C-B5DC-FCDA-5B6E0D14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6C330A-3C35-2943-ACA1-68AF1A09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390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50595-98DA-D4BE-1A12-1CFE77CE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5C6F625-384C-C2DF-8287-CABEC4420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6FD58A-91C4-3953-AF32-BBC272FE3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820426-2981-98D5-9A4C-BE04D842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4DF952-24FB-03D2-A092-C9641EF58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198737-2BE2-7DA0-DE8E-F221364D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53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D2C4A-D2D3-E057-9E98-F58C7507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C337D8-6DA2-2117-99A4-F2B1C3DB5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F03C6D-5116-A468-1B0D-BFFC377E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56D7B0-7CE0-E462-6064-DA6D41FC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D86FE5-29A2-272F-D524-0792F758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96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12186F-AC11-5A50-AF45-41863ACB0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68C72A-9610-B3FA-2A71-963B14194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2A02F7-702D-C0F6-9C8B-7980B2738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AB62F6-4538-B85A-AA3C-CE5DB484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D88380-186A-15CE-DC54-075E1D15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16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5726321-8CBD-61E1-60A1-49D708799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5B8E97-90ED-D242-E0CF-C2C8A265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7E56A-148D-F7F9-D87B-6DF119340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D353D-9046-40AC-973B-02CA14F0836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EAC128-4591-217F-0C3E-C192A557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EC31E6-3C56-38BA-B30F-D60CD3CFC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C66E6-55D0-407E-AB8D-FA143A5FC0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11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playlist?list=PLHz_AreHm4dlAnJ_jJtV29RFxnPHDuk9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EE76A-B25F-F330-DE8D-7A545F246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Fundamentos de Programação e Desenvolvimento Web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7558FF-D810-138B-E426-4A94DA4776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Dr. Daniel Facciolo Pires</a:t>
            </a:r>
          </a:p>
          <a:p>
            <a:r>
              <a:rPr lang="pt-BR" dirty="0" err="1"/>
              <a:t>UniFACEF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3501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28621-C25A-F4E6-0380-E0A606C5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Frontend</a:t>
            </a:r>
            <a:r>
              <a:rPr lang="pt-BR" dirty="0"/>
              <a:t> vs. </a:t>
            </a:r>
            <a:r>
              <a:rPr lang="pt-BR" dirty="0" err="1"/>
              <a:t>Backend</a:t>
            </a:r>
            <a:r>
              <a:rPr lang="pt-BR" dirty="0"/>
              <a:t>: A Analogia do Restaurante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51312-02AC-652E-FCCC-A54B0397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Frontend</a:t>
            </a:r>
            <a:r>
              <a:rPr lang="pt-BR" b="1" dirty="0"/>
              <a:t> (O Salão):</a:t>
            </a:r>
            <a:r>
              <a:rPr lang="pt-BR" dirty="0"/>
              <a:t> É tudo o que o cliente vê e interage. As mesas, o cardápio, a decoração e o atendimento. É a interface do usuário (UI) e a experiência do usuário (UX).</a:t>
            </a:r>
          </a:p>
          <a:p>
            <a:endParaRPr lang="pt-BR" dirty="0"/>
          </a:p>
          <a:p>
            <a:r>
              <a:rPr lang="pt-BR" b="1" dirty="0" err="1"/>
              <a:t>Backend</a:t>
            </a:r>
            <a:r>
              <a:rPr lang="pt-BR" b="1" dirty="0"/>
              <a:t> (A Cozinha):</a:t>
            </a:r>
            <a:r>
              <a:rPr lang="pt-BR" dirty="0"/>
              <a:t> É onde a mágica acontece nos bastidores. O cliente não vê a preparação, mas é lá que os pedidos são processados, o estoque é verificado e a comida é produzida.</a:t>
            </a:r>
          </a:p>
        </p:txBody>
      </p:sp>
    </p:spTree>
    <p:extLst>
      <p:ext uri="{BB962C8B-B14F-4D97-AF65-F5344CB8AC3E}">
        <p14:creationId xmlns:p14="http://schemas.microsoft.com/office/powerpoint/2010/main" val="881193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771C5-60FB-E32E-A2E7-99B67A4F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Tecnologias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2A921C-8137-D73B-38AB-E74FF9F8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 err="1"/>
              <a:t>Frontend</a:t>
            </a:r>
            <a:endParaRPr lang="pt-BR" b="1" dirty="0"/>
          </a:p>
          <a:p>
            <a:pPr lvl="1"/>
            <a:r>
              <a:rPr lang="pt-BR" b="1" dirty="0"/>
              <a:t>HTML (Estrutura):</a:t>
            </a:r>
            <a:r>
              <a:rPr lang="pt-BR" dirty="0"/>
              <a:t> O esqueleto da página (títulos, parágrafos, botões).</a:t>
            </a:r>
          </a:p>
          <a:p>
            <a:pPr lvl="1"/>
            <a:r>
              <a:rPr lang="pt-BR" b="1" dirty="0"/>
              <a:t>CSS (Estilo):</a:t>
            </a:r>
            <a:r>
              <a:rPr lang="pt-BR" dirty="0"/>
              <a:t> A pele, as cores, fontes e o layout.</a:t>
            </a:r>
          </a:p>
          <a:p>
            <a:pPr lvl="1"/>
            <a:r>
              <a:rPr lang="pt-BR" b="1" dirty="0" err="1"/>
              <a:t>JavaScript</a:t>
            </a:r>
            <a:r>
              <a:rPr lang="pt-BR" b="1" dirty="0"/>
              <a:t> (Comportamento):</a:t>
            </a:r>
            <a:r>
              <a:rPr lang="pt-BR" dirty="0"/>
              <a:t> Os músculos e o sistema nervoso (o que acontece quando clico em algo).</a:t>
            </a:r>
          </a:p>
          <a:p>
            <a:endParaRPr lang="pt-BR" b="1" dirty="0"/>
          </a:p>
          <a:p>
            <a:r>
              <a:rPr lang="pt-BR" b="1" dirty="0" err="1"/>
              <a:t>Backend</a:t>
            </a:r>
            <a:endParaRPr lang="pt-BR" b="1" dirty="0"/>
          </a:p>
          <a:p>
            <a:pPr lvl="1"/>
            <a:r>
              <a:rPr lang="pt-BR" b="1" dirty="0"/>
              <a:t>Linguagens:</a:t>
            </a:r>
            <a:r>
              <a:rPr lang="pt-BR" dirty="0"/>
              <a:t> Java, Python, PHP ou Node.js.</a:t>
            </a:r>
          </a:p>
          <a:p>
            <a:pPr lvl="1"/>
            <a:r>
              <a:rPr lang="pt-BR" b="1" dirty="0"/>
              <a:t>Banco de Dados:</a:t>
            </a:r>
            <a:r>
              <a:rPr lang="pt-BR" dirty="0"/>
              <a:t> Onde as informações são salvas (</a:t>
            </a:r>
            <a:r>
              <a:rPr lang="pt-BR" dirty="0" err="1"/>
              <a:t>ex</a:t>
            </a:r>
            <a:r>
              <a:rPr lang="pt-BR" dirty="0"/>
              <a:t>: MySQL, PostgreSQL).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284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6671E-1D04-2B3A-E0F2-33DED868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2156D0-1237-E1EE-DED7-C941D056D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A10A0F-280E-5D8B-7566-FE0BB9D18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4" y="-1"/>
            <a:ext cx="8860972" cy="680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7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C763C-287D-8B5D-24A5-D90CA8D2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91AD4F-8E34-04D4-AC3B-252C75F86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5B019B7F-318E-695E-82AC-347FB92C5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9" y="0"/>
            <a:ext cx="109950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17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1082C-2992-464D-2CC6-F29025EB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Exemplo Prático: Página de Cartão de Visitas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7064F3-7665-0651-0567-85E78934A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6544"/>
            <a:ext cx="10515600" cy="52904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000" b="1" dirty="0"/>
              <a:t>&lt;!DOCTYPE </a:t>
            </a:r>
            <a:r>
              <a:rPr lang="pt-BR" sz="2000" b="1" dirty="0" err="1"/>
              <a:t>html</a:t>
            </a:r>
            <a:r>
              <a:rPr lang="pt-BR" sz="2000" b="1" dirty="0"/>
              <a:t>&gt;</a:t>
            </a:r>
          </a:p>
          <a:p>
            <a:pPr marL="0" indent="0">
              <a:buNone/>
            </a:pPr>
            <a:r>
              <a:rPr lang="pt-BR" sz="2000" b="1" dirty="0"/>
              <a:t>&lt;</a:t>
            </a:r>
            <a:r>
              <a:rPr lang="pt-BR" sz="2000" b="1" dirty="0" err="1"/>
              <a:t>html</a:t>
            </a:r>
            <a:r>
              <a:rPr lang="pt-BR" sz="2000" b="1" dirty="0"/>
              <a:t> </a:t>
            </a:r>
            <a:r>
              <a:rPr lang="pt-BR" sz="2000" b="1" dirty="0" err="1"/>
              <a:t>lang</a:t>
            </a:r>
            <a:r>
              <a:rPr lang="pt-BR" sz="2000" b="1" dirty="0"/>
              <a:t>="</a:t>
            </a:r>
            <a:r>
              <a:rPr lang="pt-BR" sz="2000" b="1" dirty="0" err="1"/>
              <a:t>pt-br</a:t>
            </a:r>
            <a:r>
              <a:rPr lang="pt-BR" sz="2000" b="1" dirty="0"/>
              <a:t>"&gt;</a:t>
            </a:r>
          </a:p>
          <a:p>
            <a:pPr marL="0" indent="0">
              <a:buNone/>
            </a:pPr>
            <a:r>
              <a:rPr lang="pt-BR" sz="2000" b="1" dirty="0"/>
              <a:t>	&lt;</a:t>
            </a:r>
            <a:r>
              <a:rPr lang="pt-BR" sz="2000" b="1" dirty="0" err="1"/>
              <a:t>head</a:t>
            </a:r>
            <a:r>
              <a:rPr lang="pt-BR" sz="2000" b="1" dirty="0"/>
              <a:t>&gt;    </a:t>
            </a:r>
          </a:p>
          <a:p>
            <a:pPr marL="0" indent="0">
              <a:buNone/>
            </a:pPr>
            <a:r>
              <a:rPr lang="pt-BR" sz="2000" b="1" dirty="0"/>
              <a:t>		&lt;link </a:t>
            </a:r>
            <a:r>
              <a:rPr lang="pt-BR" sz="2000" b="1" dirty="0" err="1"/>
              <a:t>rel</a:t>
            </a:r>
            <a:r>
              <a:rPr lang="pt-BR" sz="2000" b="1" dirty="0"/>
              <a:t>="</a:t>
            </a:r>
            <a:r>
              <a:rPr lang="pt-BR" sz="2000" b="1" dirty="0" err="1"/>
              <a:t>stylesheet</a:t>
            </a:r>
            <a:r>
              <a:rPr lang="pt-BR" sz="2000" b="1" dirty="0"/>
              <a:t>" </a:t>
            </a:r>
            <a:r>
              <a:rPr lang="pt-BR" sz="2000" b="1" dirty="0" err="1"/>
              <a:t>href</a:t>
            </a:r>
            <a:r>
              <a:rPr lang="pt-BR" sz="2000" b="1" dirty="0"/>
              <a:t>="style.css"&gt;    </a:t>
            </a:r>
          </a:p>
          <a:p>
            <a:pPr marL="0" indent="0">
              <a:buNone/>
            </a:pPr>
            <a:r>
              <a:rPr lang="pt-BR" sz="2000" b="1" dirty="0"/>
              <a:t>		&lt;</a:t>
            </a:r>
            <a:r>
              <a:rPr lang="pt-BR" sz="2000" b="1" dirty="0" err="1"/>
              <a:t>title</a:t>
            </a:r>
            <a:r>
              <a:rPr lang="pt-BR" sz="2000" b="1" dirty="0"/>
              <a:t>&gt;Minha Primeira Aula&lt;/</a:t>
            </a:r>
            <a:r>
              <a:rPr lang="pt-BR" sz="2000" b="1" dirty="0" err="1"/>
              <a:t>title</a:t>
            </a:r>
            <a:r>
              <a:rPr lang="pt-BR" sz="2000" b="1" dirty="0"/>
              <a:t>&gt;</a:t>
            </a:r>
          </a:p>
          <a:p>
            <a:pPr marL="0" indent="0">
              <a:buNone/>
            </a:pPr>
            <a:r>
              <a:rPr lang="pt-BR" sz="2000" b="1" dirty="0"/>
              <a:t>	&lt;/</a:t>
            </a:r>
            <a:r>
              <a:rPr lang="pt-BR" sz="2000" b="1" dirty="0" err="1"/>
              <a:t>head</a:t>
            </a:r>
            <a:r>
              <a:rPr lang="pt-BR" sz="2000" b="1" dirty="0"/>
              <a:t>&gt;</a:t>
            </a:r>
          </a:p>
          <a:p>
            <a:pPr marL="0" indent="0">
              <a:buNone/>
            </a:pPr>
            <a:r>
              <a:rPr lang="pt-BR" sz="2000" b="1" dirty="0"/>
              <a:t>	&lt;body&gt;    </a:t>
            </a:r>
          </a:p>
          <a:p>
            <a:pPr marL="0" indent="0">
              <a:buNone/>
            </a:pPr>
            <a:r>
              <a:rPr lang="pt-BR" sz="2000" b="1" dirty="0"/>
              <a:t>		&lt;</a:t>
            </a:r>
            <a:r>
              <a:rPr lang="pt-BR" sz="2000" b="1" dirty="0" err="1"/>
              <a:t>div</a:t>
            </a:r>
            <a:r>
              <a:rPr lang="pt-BR" sz="2000" b="1" dirty="0"/>
              <a:t> </a:t>
            </a:r>
            <a:r>
              <a:rPr lang="pt-BR" sz="2000" b="1" dirty="0" err="1"/>
              <a:t>class</a:t>
            </a:r>
            <a:r>
              <a:rPr lang="pt-BR" sz="2000" b="1" dirty="0"/>
              <a:t>="card"&gt;        </a:t>
            </a:r>
          </a:p>
          <a:p>
            <a:pPr marL="0" indent="0">
              <a:buNone/>
            </a:pPr>
            <a:r>
              <a:rPr lang="pt-BR" sz="2000" b="1" dirty="0"/>
              <a:t>			&lt;h1&gt;Olá, Mundo!&lt;/h1&gt;        </a:t>
            </a:r>
          </a:p>
          <a:p>
            <a:pPr marL="0" indent="0">
              <a:buNone/>
            </a:pPr>
            <a:r>
              <a:rPr lang="pt-BR" sz="2000" b="1" dirty="0"/>
              <a:t>			&lt;p&gt;Bem-vindos à aula de Desenvolvimento Web.&lt;/p&gt;        </a:t>
            </a:r>
          </a:p>
          <a:p>
            <a:pPr marL="0" indent="0">
              <a:buNone/>
            </a:pPr>
            <a:r>
              <a:rPr lang="pt-BR" sz="2000" b="1" dirty="0"/>
              <a:t>			&lt;</a:t>
            </a:r>
            <a:r>
              <a:rPr lang="pt-BR" sz="2000" b="1" dirty="0" err="1"/>
              <a:t>button</a:t>
            </a:r>
            <a:r>
              <a:rPr lang="pt-BR" sz="2000" b="1" dirty="0"/>
              <a:t>&gt;Saiba Mais&lt;/</a:t>
            </a:r>
            <a:r>
              <a:rPr lang="pt-BR" sz="2000" b="1" dirty="0" err="1"/>
              <a:t>button</a:t>
            </a:r>
            <a:r>
              <a:rPr lang="pt-BR" sz="2000" b="1" dirty="0"/>
              <a:t>&gt;    </a:t>
            </a:r>
          </a:p>
          <a:p>
            <a:pPr marL="0" indent="0">
              <a:buNone/>
            </a:pPr>
            <a:r>
              <a:rPr lang="pt-BR" sz="2000" b="1" dirty="0"/>
              <a:t>		&lt;/</a:t>
            </a:r>
            <a:r>
              <a:rPr lang="pt-BR" sz="2000" b="1" dirty="0" err="1"/>
              <a:t>div</a:t>
            </a:r>
            <a:r>
              <a:rPr lang="pt-BR" sz="2000" b="1" dirty="0"/>
              <a:t>&gt;</a:t>
            </a:r>
          </a:p>
          <a:p>
            <a:pPr marL="0" indent="0">
              <a:buNone/>
            </a:pPr>
            <a:r>
              <a:rPr lang="pt-BR" sz="2000" b="1" dirty="0"/>
              <a:t>	&lt;/body&gt;</a:t>
            </a:r>
          </a:p>
          <a:p>
            <a:pPr marL="0" indent="0">
              <a:buNone/>
            </a:pPr>
            <a:r>
              <a:rPr lang="pt-BR" sz="2000" b="1" dirty="0"/>
              <a:t>&lt;/</a:t>
            </a:r>
            <a:r>
              <a:rPr lang="pt-BR" sz="2000" b="1" dirty="0" err="1"/>
              <a:t>html</a:t>
            </a:r>
            <a:r>
              <a:rPr lang="pt-BR" sz="2000" b="1" dirty="0"/>
              <a:t>&gt;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7722BEC-CBC7-086C-5CE9-340E2F7792E2}"/>
              </a:ext>
            </a:extLst>
          </p:cNvPr>
          <p:cNvSpPr txBox="1"/>
          <p:nvPr/>
        </p:nvSpPr>
        <p:spPr>
          <a:xfrm>
            <a:off x="9468465" y="3333135"/>
            <a:ext cx="134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cartao.html</a:t>
            </a:r>
          </a:p>
        </p:txBody>
      </p:sp>
    </p:spTree>
    <p:extLst>
      <p:ext uri="{BB962C8B-B14F-4D97-AF65-F5344CB8AC3E}">
        <p14:creationId xmlns:p14="http://schemas.microsoft.com/office/powerpoint/2010/main" val="105641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AE8747-7526-D1EB-A8AA-8D40A1EAE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521" y="0"/>
            <a:ext cx="638433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200" dirty="0"/>
              <a:t>body { </a:t>
            </a:r>
          </a:p>
          <a:p>
            <a:pPr marL="0" indent="0">
              <a:buNone/>
            </a:pPr>
            <a:r>
              <a:rPr lang="pt-BR" sz="2200" dirty="0"/>
              <a:t>	background-color: #f0f2f5; </a:t>
            </a:r>
          </a:p>
          <a:p>
            <a:pPr marL="0" indent="0">
              <a:buNone/>
            </a:pPr>
            <a:r>
              <a:rPr lang="pt-BR" sz="2200" dirty="0"/>
              <a:t>	display: </a:t>
            </a:r>
            <a:r>
              <a:rPr lang="pt-BR" sz="2200" dirty="0" err="1"/>
              <a:t>flex</a:t>
            </a:r>
            <a:r>
              <a:rPr lang="pt-BR" sz="2200" dirty="0"/>
              <a:t>; </a:t>
            </a:r>
          </a:p>
          <a:p>
            <a:pPr marL="0" indent="0">
              <a:buNone/>
            </a:pPr>
            <a:r>
              <a:rPr lang="pt-BR" sz="2200" dirty="0"/>
              <a:t>	</a:t>
            </a:r>
            <a:r>
              <a:rPr lang="pt-BR" sz="2200" dirty="0" err="1"/>
              <a:t>justify-content</a:t>
            </a:r>
            <a:r>
              <a:rPr lang="pt-BR" sz="2200" dirty="0"/>
              <a:t>: center; </a:t>
            </a:r>
          </a:p>
          <a:p>
            <a:pPr marL="0" indent="0">
              <a:buNone/>
            </a:pPr>
            <a:r>
              <a:rPr lang="pt-BR" sz="2200" dirty="0"/>
              <a:t>	</a:t>
            </a:r>
            <a:r>
              <a:rPr lang="pt-BR" sz="2200" dirty="0" err="1"/>
              <a:t>align-items</a:t>
            </a:r>
            <a:r>
              <a:rPr lang="pt-BR" sz="2200" dirty="0"/>
              <a:t>: center; </a:t>
            </a:r>
          </a:p>
          <a:p>
            <a:pPr marL="0" indent="0">
              <a:buNone/>
            </a:pPr>
            <a:r>
              <a:rPr lang="pt-BR" sz="2200" dirty="0"/>
              <a:t>	</a:t>
            </a:r>
            <a:r>
              <a:rPr lang="pt-BR" sz="2200" dirty="0" err="1"/>
              <a:t>height</a:t>
            </a:r>
            <a:r>
              <a:rPr lang="pt-BR" sz="2200" dirty="0"/>
              <a:t>: 100vh; </a:t>
            </a:r>
          </a:p>
          <a:p>
            <a:pPr marL="0" indent="0">
              <a:buNone/>
            </a:pPr>
            <a:r>
              <a:rPr lang="pt-BR" sz="2200" dirty="0"/>
              <a:t>	</a:t>
            </a:r>
            <a:r>
              <a:rPr lang="pt-BR" sz="2200" dirty="0" err="1"/>
              <a:t>font-family</a:t>
            </a:r>
            <a:r>
              <a:rPr lang="pt-BR" sz="2200" dirty="0"/>
              <a:t>: </a:t>
            </a:r>
          </a:p>
          <a:p>
            <a:pPr marL="0" indent="0">
              <a:buNone/>
            </a:pPr>
            <a:r>
              <a:rPr lang="pt-BR" sz="2200" dirty="0"/>
              <a:t>	Arial, </a:t>
            </a:r>
            <a:r>
              <a:rPr lang="pt-BR" sz="2200" dirty="0" err="1"/>
              <a:t>sans-serif</a:t>
            </a:r>
            <a:r>
              <a:rPr lang="pt-BR" sz="2200" dirty="0"/>
              <a:t>; </a:t>
            </a:r>
          </a:p>
          <a:p>
            <a:pPr marL="0" indent="0">
              <a:buNone/>
            </a:pPr>
            <a:r>
              <a:rPr lang="pt-BR" sz="2200" dirty="0"/>
              <a:t>} </a:t>
            </a:r>
          </a:p>
          <a:p>
            <a:pPr marL="0" indent="0">
              <a:buNone/>
            </a:pPr>
            <a:r>
              <a:rPr lang="pt-BR" sz="2200" dirty="0"/>
              <a:t>.card { </a:t>
            </a:r>
          </a:p>
          <a:p>
            <a:pPr marL="0" indent="0">
              <a:buNone/>
            </a:pPr>
            <a:r>
              <a:rPr lang="pt-BR" sz="2200" dirty="0"/>
              <a:t>	background: </a:t>
            </a:r>
            <a:r>
              <a:rPr lang="pt-BR" sz="2200" dirty="0" err="1"/>
              <a:t>white</a:t>
            </a:r>
            <a:r>
              <a:rPr lang="pt-BR" sz="2200" dirty="0"/>
              <a:t>; </a:t>
            </a:r>
          </a:p>
          <a:p>
            <a:pPr marL="0" indent="0">
              <a:buNone/>
            </a:pPr>
            <a:r>
              <a:rPr lang="pt-BR" sz="2200" dirty="0"/>
              <a:t>	</a:t>
            </a:r>
            <a:r>
              <a:rPr lang="pt-BR" sz="2200" dirty="0" err="1"/>
              <a:t>padding</a:t>
            </a:r>
            <a:r>
              <a:rPr lang="pt-BR" sz="2200" dirty="0"/>
              <a:t>: 20px; </a:t>
            </a:r>
          </a:p>
          <a:p>
            <a:pPr marL="0" indent="0">
              <a:buNone/>
            </a:pPr>
            <a:r>
              <a:rPr lang="pt-BR" sz="2200" dirty="0"/>
              <a:t>	</a:t>
            </a:r>
            <a:r>
              <a:rPr lang="pt-BR" sz="2200" dirty="0" err="1"/>
              <a:t>border-radius</a:t>
            </a:r>
            <a:r>
              <a:rPr lang="pt-BR" sz="2200" dirty="0"/>
              <a:t>: 10px; </a:t>
            </a:r>
          </a:p>
          <a:p>
            <a:pPr marL="0" indent="0">
              <a:buNone/>
            </a:pPr>
            <a:r>
              <a:rPr lang="pt-BR" sz="2200" dirty="0"/>
              <a:t>	box-</a:t>
            </a:r>
            <a:r>
              <a:rPr lang="pt-BR" sz="2200" dirty="0" err="1"/>
              <a:t>shadow</a:t>
            </a:r>
            <a:r>
              <a:rPr lang="pt-BR" sz="2200" dirty="0"/>
              <a:t>: 0 4px 8px </a:t>
            </a:r>
            <a:r>
              <a:rPr lang="pt-BR" sz="2200" dirty="0" err="1"/>
              <a:t>rgba</a:t>
            </a:r>
            <a:r>
              <a:rPr lang="pt-BR" sz="2200" dirty="0"/>
              <a:t>(0,0,0,0.1); </a:t>
            </a:r>
          </a:p>
          <a:p>
            <a:pPr marL="0" indent="0">
              <a:buNone/>
            </a:pPr>
            <a:r>
              <a:rPr lang="pt-BR" sz="2200" dirty="0"/>
              <a:t>	</a:t>
            </a:r>
            <a:r>
              <a:rPr lang="pt-BR" sz="2200" dirty="0" err="1"/>
              <a:t>text-align</a:t>
            </a:r>
            <a:r>
              <a:rPr lang="pt-BR" sz="2200" dirty="0"/>
              <a:t>: center; </a:t>
            </a:r>
          </a:p>
          <a:p>
            <a:pPr marL="0" indent="0">
              <a:buNone/>
            </a:pPr>
            <a:r>
              <a:rPr lang="pt-BR" sz="2200" dirty="0"/>
              <a:t>}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B5F898-D74A-914F-4E5F-0B49DBA41B2A}"/>
              </a:ext>
            </a:extLst>
          </p:cNvPr>
          <p:cNvSpPr txBox="1"/>
          <p:nvPr/>
        </p:nvSpPr>
        <p:spPr>
          <a:xfrm>
            <a:off x="10002175" y="231409"/>
            <a:ext cx="1342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style.css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CAEDFCA-059E-97CD-077B-A945E31D2FFB}"/>
              </a:ext>
            </a:extLst>
          </p:cNvPr>
          <p:cNvSpPr txBox="1">
            <a:spLocks/>
          </p:cNvSpPr>
          <p:nvPr/>
        </p:nvSpPr>
        <p:spPr>
          <a:xfrm>
            <a:off x="7243957" y="1440415"/>
            <a:ext cx="474652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2200" dirty="0" err="1"/>
              <a:t>button</a:t>
            </a:r>
            <a:r>
              <a:rPr lang="pt-BR" sz="2200" dirty="0"/>
              <a:t>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200" dirty="0"/>
              <a:t>	background-color: #007bff;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200" dirty="0"/>
              <a:t>	color: </a:t>
            </a:r>
            <a:r>
              <a:rPr lang="pt-BR" sz="2200" dirty="0" err="1"/>
              <a:t>white</a:t>
            </a:r>
            <a:r>
              <a:rPr lang="pt-BR" sz="2200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200" dirty="0"/>
              <a:t>	</a:t>
            </a:r>
            <a:r>
              <a:rPr lang="pt-BR" sz="2200" dirty="0" err="1"/>
              <a:t>border</a:t>
            </a:r>
            <a:r>
              <a:rPr lang="pt-BR" sz="2200" dirty="0"/>
              <a:t>: </a:t>
            </a:r>
            <a:r>
              <a:rPr lang="pt-BR" sz="2200" dirty="0" err="1"/>
              <a:t>none</a:t>
            </a:r>
            <a:r>
              <a:rPr lang="pt-BR" sz="2200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200" dirty="0"/>
              <a:t>	</a:t>
            </a:r>
            <a:r>
              <a:rPr lang="pt-BR" sz="2200" dirty="0" err="1"/>
              <a:t>padding</a:t>
            </a:r>
            <a:r>
              <a:rPr lang="pt-BR" sz="2200" dirty="0"/>
              <a:t>: 10px 20px;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200" dirty="0"/>
              <a:t>	</a:t>
            </a:r>
            <a:r>
              <a:rPr lang="pt-BR" sz="2200" dirty="0" err="1"/>
              <a:t>border-radius</a:t>
            </a:r>
            <a:r>
              <a:rPr lang="pt-BR" sz="2200" dirty="0"/>
              <a:t>: 5px;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200" dirty="0"/>
              <a:t>	cursor: pointer;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0789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6F1A7-A130-23CE-6701-008BE9C7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Ex1. Exercício de Analogia (Conceitual)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BB9431-4C27-C5A7-2E10-78A64F0E0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Este exercício ajuda a fixar a separação de responsabilidades sem exigir código.</a:t>
            </a:r>
          </a:p>
          <a:p>
            <a:r>
              <a:rPr lang="pt-BR" b="1" dirty="0"/>
              <a:t>Instrução:</a:t>
            </a:r>
            <a:r>
              <a:rPr lang="pt-BR" dirty="0"/>
              <a:t> "Pense em um aplicativo que vocês usam diariamente (</a:t>
            </a:r>
            <a:r>
              <a:rPr lang="pt-BR" dirty="0" err="1"/>
              <a:t>ex</a:t>
            </a:r>
            <a:r>
              <a:rPr lang="pt-BR" dirty="0"/>
              <a:t>: Instagram ou WhatsApp). Identifique três elementos que pertencem ao </a:t>
            </a:r>
            <a:r>
              <a:rPr lang="pt-BR" b="1" dirty="0" err="1"/>
              <a:t>Frontend</a:t>
            </a:r>
            <a:r>
              <a:rPr lang="pt-BR" dirty="0"/>
              <a:t> (o que você vê e toca) e três processos que acontecem no </a:t>
            </a:r>
            <a:r>
              <a:rPr lang="pt-BR" b="1" dirty="0" err="1"/>
              <a:t>Backend</a:t>
            </a:r>
            <a:r>
              <a:rPr lang="pt-BR" dirty="0"/>
              <a:t> (o que o app faz sem você ver)."</a:t>
            </a:r>
          </a:p>
          <a:p>
            <a:r>
              <a:rPr lang="pt-BR" b="1" dirty="0"/>
              <a:t>Exemplo de Resposta Esperada:</a:t>
            </a:r>
            <a:endParaRPr lang="pt-BR" dirty="0"/>
          </a:p>
          <a:p>
            <a:pPr lvl="1"/>
            <a:r>
              <a:rPr lang="pt-BR" i="1" dirty="0" err="1"/>
              <a:t>Frontend</a:t>
            </a:r>
            <a:r>
              <a:rPr lang="pt-BR" i="1" dirty="0"/>
              <a:t>:</a:t>
            </a:r>
            <a:r>
              <a:rPr lang="pt-BR" dirty="0"/>
              <a:t> Botão de curtir, campo de texto, foto de perfil.</a:t>
            </a:r>
          </a:p>
          <a:p>
            <a:pPr lvl="1"/>
            <a:r>
              <a:rPr lang="pt-BR" i="1" dirty="0" err="1"/>
              <a:t>Backend</a:t>
            </a:r>
            <a:r>
              <a:rPr lang="pt-BR" i="1" dirty="0"/>
              <a:t>:</a:t>
            </a:r>
            <a:r>
              <a:rPr lang="pt-BR" dirty="0"/>
              <a:t> Verificar se a senha está correta, salvar a foto no banco de dados, enviar notificação para outro usuário.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4010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A3773-D67B-4206-6CA1-9BD0C7B5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Ex. 2. Exercício "Inspetor" (Prático/Descoberta)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628ABE-94D2-D5AF-467F-549D6FE17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ótima forma de mostrar que a web é "aberta".</a:t>
            </a:r>
          </a:p>
          <a:p>
            <a:r>
              <a:rPr lang="pt-BR" b="1" dirty="0"/>
              <a:t>Instrução:</a:t>
            </a:r>
            <a:r>
              <a:rPr lang="pt-BR" dirty="0"/>
              <a:t> "Abra o site da nossa faculdade no navegador (Chrome ou Edge). Clique com o botão direito em qualquer lugar da página e selecione </a:t>
            </a:r>
            <a:r>
              <a:rPr lang="pt-BR" b="1" dirty="0"/>
              <a:t>'Inspecionar'</a:t>
            </a:r>
            <a:r>
              <a:rPr lang="pt-BR" dirty="0"/>
              <a:t>.</a:t>
            </a:r>
          </a:p>
          <a:p>
            <a:r>
              <a:rPr lang="pt-BR" dirty="0"/>
              <a:t>Tente encontrar o texto do título principal no HTML.</a:t>
            </a:r>
          </a:p>
          <a:p>
            <a:r>
              <a:rPr lang="pt-BR" dirty="0"/>
              <a:t>Tente alterar a cor de fundo (background-color) de algum elemento no painel lateral de CSS.</a:t>
            </a:r>
          </a:p>
          <a:p>
            <a:r>
              <a:rPr lang="pt-BR" dirty="0"/>
              <a:t>O que acontece se você atualizar a página (F5)? Por que as mudanças sumiram?"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658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2E7A2-E88E-01C5-0355-EEDA968F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 3. Desafio de Código: Personalização do Card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C2465B-EE65-767A-740D-2DE89FE8C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Usando o exemplo de código que apresentamos antes, peça para eles fazerem pequenas modificações.</a:t>
            </a:r>
          </a:p>
          <a:p>
            <a:r>
              <a:rPr lang="pt-BR" b="1" dirty="0"/>
              <a:t>Instrução:</a:t>
            </a:r>
            <a:r>
              <a:rPr lang="pt-BR" dirty="0"/>
              <a:t> "Com o código do cartão de visitas que criamos em aula, faça as seguintes alterações:"</a:t>
            </a:r>
          </a:p>
          <a:p>
            <a:r>
              <a:rPr lang="pt-BR" dirty="0"/>
              <a:t>Mude o texto do título &lt;h1&gt; para o seu nome completo.</a:t>
            </a:r>
          </a:p>
          <a:p>
            <a:r>
              <a:rPr lang="pt-BR" dirty="0"/>
              <a:t>No CSS, altere a cor do botão (background-color) de azul para a sua cor favorita (em inglês ou código Hexadecimal).</a:t>
            </a:r>
          </a:p>
          <a:p>
            <a:r>
              <a:rPr lang="pt-BR" dirty="0"/>
              <a:t>Adicione uma nova linha de texto &lt;p&gt; abaixo da anterior descrevendo qual área da tecnologia mais te interessa hoje.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7941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64B2C-C572-F3CA-C7C3-EA9CD443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D9E540-C882-E083-D3CA-A9A42B71E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Curso em vídeo – Gustavo Guanabara</a:t>
            </a:r>
          </a:p>
          <a:p>
            <a:endParaRPr lang="pt-BR" dirty="0"/>
          </a:p>
          <a:p>
            <a:pPr lvl="1"/>
            <a:r>
              <a:rPr lang="pt-BR" dirty="0">
                <a:hlinkClick r:id="rId2"/>
              </a:rPr>
              <a:t>https://www.youtube.com/playlist?list=PLHz_AreHm4dlAnJ_jJtV29RFxnPHDuk9o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FlexBoxFroggy</a:t>
            </a:r>
            <a:endParaRPr lang="pt-BR" dirty="0"/>
          </a:p>
          <a:p>
            <a:endParaRPr lang="pt-BR" dirty="0"/>
          </a:p>
          <a:p>
            <a:pPr lvl="1"/>
            <a:r>
              <a:rPr lang="pt-BR" dirty="0"/>
              <a:t>https://flexboxfroggy.com/#pt-br</a:t>
            </a:r>
          </a:p>
        </p:txBody>
      </p:sp>
    </p:spTree>
    <p:extLst>
      <p:ext uri="{BB962C8B-B14F-4D97-AF65-F5344CB8AC3E}">
        <p14:creationId xmlns:p14="http://schemas.microsoft.com/office/powerpoint/2010/main" val="6519892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763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Fundamentos de Programação e Desenvolvimento Web</vt:lpstr>
      <vt:lpstr>Frontend vs. Backend: A Analogia do Restaurante</vt:lpstr>
      <vt:lpstr>Tecnologias Principais</vt:lpstr>
      <vt:lpstr>Apresentação do PowerPoint</vt:lpstr>
      <vt:lpstr>Apresentação do PowerPoint</vt:lpstr>
      <vt:lpstr>Exemplo Prático: Página de Cartão de Visitas</vt:lpstr>
      <vt:lpstr>Apresentação do PowerPoint</vt:lpstr>
      <vt:lpstr>Ex1. Exercício de Analogia (Conceitual)</vt:lpstr>
      <vt:lpstr>Ex. 2. Exercício "Inspetor" (Prático/Descoberta)</vt:lpstr>
      <vt:lpstr>Ex 3. Desafio de Código: Personalização do Card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Facciolo Pires</dc:creator>
  <cp:lastModifiedBy>Daniel Facciolo Pires</cp:lastModifiedBy>
  <cp:revision>3</cp:revision>
  <dcterms:created xsi:type="dcterms:W3CDTF">2026-02-11T19:41:50Z</dcterms:created>
  <dcterms:modified xsi:type="dcterms:W3CDTF">2026-02-11T20:36:37Z</dcterms:modified>
</cp:coreProperties>
</file>